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pilot succeeded for one brand in one market. This deck is about scaling that success to 50+ brands and 20 markets — and why the hard part is organizational, not technical.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pilot number (60%) is real but narrow. The scale math is the reason a platform is needed: 12,000 deliverables cannot be produced by manual adaptation.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Wave 1 = three representative brands in two markets, chosen to stress-test variety, not to guarantee an easy win. Months 4–6 are deliberately about people: testing, training,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box names the stakeholder it is co-built with — this is the co-innovation argument. Step 7 is deliberately not automated. Demo the live prototype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3 is the CFO pillar: marginal cost of the next brand/market is the number that makes 50x20 believable. Pillar 4 makes the change-management thesis measurable.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ask: not budget for a platform, but approval of a bounded six-month wave with explicit evidence gates. Each stakeholder sees their concern converted into a design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brand-scalability-system.netlify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EAF1E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640080"/>
            <a:ext cx="1828800" cy="55961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029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Scaling the Brand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502920" y="14813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B382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Journey from North America Green to Global Growth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2103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From one successful Firefly pilot to a scalable content operation across: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50+ Brands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20 Markets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Thousands of Localized Assets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3794760"/>
            <a:ext cx="7223760" cy="2331720"/>
          </a:xfrm>
          <a:prstGeom prst="rect">
            <a:avLst/>
          </a:prstGeom>
          <a:solidFill>
            <a:srgbClr val="F4F6F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023360"/>
            <a:ext cx="6675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discovery should be embedded throughout every stage of the process.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stakeholders have not yet envisioned how automation could improve their existing systems and workflows. Demonstrating value through practical automation tools helps build confidence, uncover new opportunities, and encourage adoption.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technology is often the easier part. The greater challenge is securing stakeholder alignment, managing change, and providing effective training.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BY JOE MICALLEF FOR ADOBE/CONEXESS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Goal &amp; the Scale of the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577840" cy="2743200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Eliminate repetitive manual adaptation through a governed, metadata-driven system that: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Uses generative AI within approved brand rules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Connects to the company's existing DAM and PIM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Automates localization and specification compliance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Preserves human review and creative oversight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Delivers approved assets back to the DAM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Pilot Proved the Value. Now We Must Scale 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4800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1B382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60%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377440" y="48463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reduction in brief-to-post time — the North America Green pilot successfully accelerated hero-image development.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58064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6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However, the process does not yet automate the auxiliary imagery, localized copy, channel formats, and market-specific specifications required for global production.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46520" y="1234440"/>
            <a:ext cx="5239512" cy="5120640"/>
          </a:xfrm>
          <a:prstGeom prst="rect">
            <a:avLst/>
          </a:prstGeom>
          <a:solidFill>
            <a:srgbClr val="F4F6F2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OF THE CHALLENGE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2084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brands × 20 markets × 4 creative variations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2103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4,000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281160" y="2395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brand-market assets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2084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three required formats per asset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20840" y="3383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1B382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12,000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509760" y="3675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deliverables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4617720"/>
            <a:ext cx="256032" cy="822960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5532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green master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059168" y="4846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06640" y="4617720"/>
            <a:ext cx="68580" cy="38404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0" y="4617720"/>
            <a:ext cx="68580" cy="38404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0" y="4617720"/>
            <a:ext cx="68580" cy="384048"/>
          </a:xfrm>
          <a:prstGeom prst="rect">
            <a:avLst/>
          </a:prstGeom>
          <a:solidFill>
            <a:srgbClr val="97C459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0" y="4617720"/>
            <a:ext cx="68580" cy="38404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0" y="4617720"/>
            <a:ext cx="68580" cy="384048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3840" y="4617720"/>
            <a:ext cx="68580" cy="38404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8" name="Shape 26"/>
          <p:cNvSpPr/>
          <p:nvPr/>
        </p:nvSpPr>
        <p:spPr>
          <a:xfrm>
            <a:off x="7955280" y="4617720"/>
            <a:ext cx="68580" cy="38404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4617720"/>
            <a:ext cx="68580" cy="38404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0" name="Shape 28"/>
          <p:cNvSpPr/>
          <p:nvPr/>
        </p:nvSpPr>
        <p:spPr>
          <a:xfrm>
            <a:off x="8138160" y="4617720"/>
            <a:ext cx="68580" cy="38404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4617720"/>
            <a:ext cx="68580" cy="384048"/>
          </a:xfrm>
          <a:prstGeom prst="rect">
            <a:avLst/>
          </a:prstGeom>
          <a:solidFill>
            <a:srgbClr val="2F5943"/>
          </a:solidFill>
          <a:ln/>
        </p:spPr>
      </p:sp>
      <p:sp>
        <p:nvSpPr>
          <p:cNvPr id="32" name="Shape 30"/>
          <p:cNvSpPr/>
          <p:nvPr/>
        </p:nvSpPr>
        <p:spPr>
          <a:xfrm>
            <a:off x="8321040" y="4617720"/>
            <a:ext cx="68580" cy="38404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3" name="Shape 31"/>
          <p:cNvSpPr/>
          <p:nvPr/>
        </p:nvSpPr>
        <p:spPr>
          <a:xfrm>
            <a:off x="8412480" y="4617720"/>
            <a:ext cx="68580" cy="384048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4" name="Shape 32"/>
          <p:cNvSpPr/>
          <p:nvPr/>
        </p:nvSpPr>
        <p:spPr>
          <a:xfrm>
            <a:off x="8503920" y="4617720"/>
            <a:ext cx="68580" cy="384048"/>
          </a:xfrm>
          <a:prstGeom prst="rect">
            <a:avLst/>
          </a:prstGeom>
          <a:solidFill>
            <a:srgbClr val="69A297"/>
          </a:solidFill>
          <a:ln/>
        </p:spPr>
      </p:sp>
      <p:sp>
        <p:nvSpPr>
          <p:cNvPr id="35" name="Shape 33"/>
          <p:cNvSpPr/>
          <p:nvPr/>
        </p:nvSpPr>
        <p:spPr>
          <a:xfrm>
            <a:off x="8595360" y="4617720"/>
            <a:ext cx="68580" cy="38404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6" name="Shape 34"/>
          <p:cNvSpPr/>
          <p:nvPr/>
        </p:nvSpPr>
        <p:spPr>
          <a:xfrm>
            <a:off x="8686800" y="4617720"/>
            <a:ext cx="6858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Shape 35"/>
          <p:cNvSpPr/>
          <p:nvPr/>
        </p:nvSpPr>
        <p:spPr>
          <a:xfrm>
            <a:off x="8778240" y="4617720"/>
            <a:ext cx="68580" cy="38404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8" name="Shape 36"/>
          <p:cNvSpPr/>
          <p:nvPr/>
        </p:nvSpPr>
        <p:spPr>
          <a:xfrm>
            <a:off x="8869680" y="4617720"/>
            <a:ext cx="68580" cy="384048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39" name="Shape 37"/>
          <p:cNvSpPr/>
          <p:nvPr/>
        </p:nvSpPr>
        <p:spPr>
          <a:xfrm>
            <a:off x="8961120" y="4617720"/>
            <a:ext cx="68580" cy="384048"/>
          </a:xfrm>
          <a:prstGeom prst="rect">
            <a:avLst/>
          </a:prstGeom>
          <a:solidFill>
            <a:srgbClr val="639922"/>
          </a:solidFill>
          <a:ln/>
        </p:spPr>
      </p:sp>
      <p:sp>
        <p:nvSpPr>
          <p:cNvPr id="40" name="Shape 38"/>
          <p:cNvSpPr/>
          <p:nvPr/>
        </p:nvSpPr>
        <p:spPr>
          <a:xfrm>
            <a:off x="9052560" y="4617720"/>
            <a:ext cx="68580" cy="384048"/>
          </a:xfrm>
          <a:prstGeom prst="rect">
            <a:avLst/>
          </a:prstGeom>
          <a:solidFill>
            <a:srgbClr val="D05538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4000" y="4617720"/>
            <a:ext cx="68580" cy="384048"/>
          </a:xfrm>
          <a:prstGeom prst="rect">
            <a:avLst/>
          </a:prstGeom>
          <a:solidFill>
            <a:srgbClr val="3B8BD4"/>
          </a:solidFill>
          <a:ln/>
        </p:spPr>
      </p:sp>
      <p:sp>
        <p:nvSpPr>
          <p:cNvPr id="42" name="Shape 40"/>
          <p:cNvSpPr/>
          <p:nvPr/>
        </p:nvSpPr>
        <p:spPr>
          <a:xfrm>
            <a:off x="9235440" y="4617720"/>
            <a:ext cx="68580" cy="384048"/>
          </a:xfrm>
          <a:prstGeom prst="rect">
            <a:avLst/>
          </a:prstGeom>
          <a:solidFill>
            <a:srgbClr val="993556"/>
          </a:solidFill>
          <a:ln/>
        </p:spPr>
      </p:sp>
      <p:sp>
        <p:nvSpPr>
          <p:cNvPr id="43" name="Shape 41"/>
          <p:cNvSpPr/>
          <p:nvPr/>
        </p:nvSpPr>
        <p:spPr>
          <a:xfrm>
            <a:off x="9326880" y="4617720"/>
            <a:ext cx="68580" cy="38404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44" name="Shape 42"/>
          <p:cNvSpPr/>
          <p:nvPr/>
        </p:nvSpPr>
        <p:spPr>
          <a:xfrm>
            <a:off x="9418320" y="4617720"/>
            <a:ext cx="68580" cy="38404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5" name="Shape 43"/>
          <p:cNvSpPr/>
          <p:nvPr/>
        </p:nvSpPr>
        <p:spPr>
          <a:xfrm>
            <a:off x="9509760" y="4617720"/>
            <a:ext cx="68580" cy="384048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46" name="Shape 44"/>
          <p:cNvSpPr/>
          <p:nvPr/>
        </p:nvSpPr>
        <p:spPr>
          <a:xfrm>
            <a:off x="9601200" y="4617720"/>
            <a:ext cx="68580" cy="384048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47" name="Shape 45"/>
          <p:cNvSpPr/>
          <p:nvPr/>
        </p:nvSpPr>
        <p:spPr>
          <a:xfrm>
            <a:off x="7406640" y="5056632"/>
            <a:ext cx="68580" cy="38404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48" name="Shape 46"/>
          <p:cNvSpPr/>
          <p:nvPr/>
        </p:nvSpPr>
        <p:spPr>
          <a:xfrm>
            <a:off x="7498080" y="5056632"/>
            <a:ext cx="68580" cy="38404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49" name="Shape 47"/>
          <p:cNvSpPr/>
          <p:nvPr/>
        </p:nvSpPr>
        <p:spPr>
          <a:xfrm>
            <a:off x="7589520" y="5056632"/>
            <a:ext cx="68580" cy="384048"/>
          </a:xfrm>
          <a:prstGeom prst="rect">
            <a:avLst/>
          </a:prstGeom>
          <a:solidFill>
            <a:srgbClr val="2F5943"/>
          </a:solidFill>
          <a:ln/>
        </p:spPr>
      </p:sp>
      <p:sp>
        <p:nvSpPr>
          <p:cNvPr id="50" name="Shape 48"/>
          <p:cNvSpPr/>
          <p:nvPr/>
        </p:nvSpPr>
        <p:spPr>
          <a:xfrm>
            <a:off x="7680960" y="5056632"/>
            <a:ext cx="68580" cy="38404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51" name="Shape 49"/>
          <p:cNvSpPr/>
          <p:nvPr/>
        </p:nvSpPr>
        <p:spPr>
          <a:xfrm>
            <a:off x="7772400" y="5056632"/>
            <a:ext cx="68580" cy="384048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52" name="Shape 50"/>
          <p:cNvSpPr/>
          <p:nvPr/>
        </p:nvSpPr>
        <p:spPr>
          <a:xfrm>
            <a:off x="7863840" y="5056632"/>
            <a:ext cx="68580" cy="384048"/>
          </a:xfrm>
          <a:prstGeom prst="rect">
            <a:avLst/>
          </a:prstGeom>
          <a:solidFill>
            <a:srgbClr val="69A297"/>
          </a:solidFill>
          <a:ln/>
        </p:spPr>
      </p:sp>
      <p:sp>
        <p:nvSpPr>
          <p:cNvPr id="53" name="Shape 51"/>
          <p:cNvSpPr/>
          <p:nvPr/>
        </p:nvSpPr>
        <p:spPr>
          <a:xfrm>
            <a:off x="7955280" y="5056632"/>
            <a:ext cx="68580" cy="38404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4" name="Shape 52"/>
          <p:cNvSpPr/>
          <p:nvPr/>
        </p:nvSpPr>
        <p:spPr>
          <a:xfrm>
            <a:off x="8046720" y="5056632"/>
            <a:ext cx="6858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5" name="Shape 53"/>
          <p:cNvSpPr/>
          <p:nvPr/>
        </p:nvSpPr>
        <p:spPr>
          <a:xfrm>
            <a:off x="8138160" y="5056632"/>
            <a:ext cx="68580" cy="38404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6" name="Shape 54"/>
          <p:cNvSpPr/>
          <p:nvPr/>
        </p:nvSpPr>
        <p:spPr>
          <a:xfrm>
            <a:off x="8229600" y="5056632"/>
            <a:ext cx="68580" cy="384048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57" name="Shape 55"/>
          <p:cNvSpPr/>
          <p:nvPr/>
        </p:nvSpPr>
        <p:spPr>
          <a:xfrm>
            <a:off x="8321040" y="5056632"/>
            <a:ext cx="68580" cy="384048"/>
          </a:xfrm>
          <a:prstGeom prst="rect">
            <a:avLst/>
          </a:prstGeom>
          <a:solidFill>
            <a:srgbClr val="639922"/>
          </a:solidFill>
          <a:ln/>
        </p:spPr>
      </p:sp>
      <p:sp>
        <p:nvSpPr>
          <p:cNvPr id="58" name="Shape 56"/>
          <p:cNvSpPr/>
          <p:nvPr/>
        </p:nvSpPr>
        <p:spPr>
          <a:xfrm>
            <a:off x="8412480" y="5056632"/>
            <a:ext cx="68580" cy="384048"/>
          </a:xfrm>
          <a:prstGeom prst="rect">
            <a:avLst/>
          </a:prstGeom>
          <a:solidFill>
            <a:srgbClr val="D05538"/>
          </a:solidFill>
          <a:ln/>
        </p:spPr>
      </p:sp>
      <p:sp>
        <p:nvSpPr>
          <p:cNvPr id="59" name="Shape 57"/>
          <p:cNvSpPr/>
          <p:nvPr/>
        </p:nvSpPr>
        <p:spPr>
          <a:xfrm>
            <a:off x="8503920" y="5056632"/>
            <a:ext cx="68580" cy="384048"/>
          </a:xfrm>
          <a:prstGeom prst="rect">
            <a:avLst/>
          </a:prstGeom>
          <a:solidFill>
            <a:srgbClr val="3B8BD4"/>
          </a:solidFill>
          <a:ln/>
        </p:spPr>
      </p:sp>
      <p:sp>
        <p:nvSpPr>
          <p:cNvPr id="60" name="Shape 58"/>
          <p:cNvSpPr/>
          <p:nvPr/>
        </p:nvSpPr>
        <p:spPr>
          <a:xfrm>
            <a:off x="8595360" y="5056632"/>
            <a:ext cx="68580" cy="384048"/>
          </a:xfrm>
          <a:prstGeom prst="rect">
            <a:avLst/>
          </a:prstGeom>
          <a:solidFill>
            <a:srgbClr val="993556"/>
          </a:solidFill>
          <a:ln/>
        </p:spPr>
      </p:sp>
      <p:sp>
        <p:nvSpPr>
          <p:cNvPr id="61" name="Shape 59"/>
          <p:cNvSpPr/>
          <p:nvPr/>
        </p:nvSpPr>
        <p:spPr>
          <a:xfrm>
            <a:off x="8686800" y="5056632"/>
            <a:ext cx="68580" cy="38404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2" name="Shape 60"/>
          <p:cNvSpPr/>
          <p:nvPr/>
        </p:nvSpPr>
        <p:spPr>
          <a:xfrm>
            <a:off x="8778240" y="5056632"/>
            <a:ext cx="68580" cy="38404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3" name="Shape 61"/>
          <p:cNvSpPr/>
          <p:nvPr/>
        </p:nvSpPr>
        <p:spPr>
          <a:xfrm>
            <a:off x="8869680" y="5056632"/>
            <a:ext cx="68580" cy="384048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64" name="Shape 62"/>
          <p:cNvSpPr/>
          <p:nvPr/>
        </p:nvSpPr>
        <p:spPr>
          <a:xfrm>
            <a:off x="8961120" y="5056632"/>
            <a:ext cx="68580" cy="384048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65" name="Shape 63"/>
          <p:cNvSpPr/>
          <p:nvPr/>
        </p:nvSpPr>
        <p:spPr>
          <a:xfrm>
            <a:off x="9052560" y="5056632"/>
            <a:ext cx="68580" cy="38404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00" y="5056632"/>
            <a:ext cx="68580" cy="38404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67" name="Shape 65"/>
          <p:cNvSpPr/>
          <p:nvPr/>
        </p:nvSpPr>
        <p:spPr>
          <a:xfrm>
            <a:off x="9235440" y="5056632"/>
            <a:ext cx="68580" cy="384048"/>
          </a:xfrm>
          <a:prstGeom prst="rect">
            <a:avLst/>
          </a:prstGeom>
          <a:solidFill>
            <a:srgbClr val="97C459"/>
          </a:solidFill>
          <a:ln/>
        </p:spPr>
      </p:sp>
      <p:sp>
        <p:nvSpPr>
          <p:cNvPr id="68" name="Shape 66"/>
          <p:cNvSpPr/>
          <p:nvPr/>
        </p:nvSpPr>
        <p:spPr>
          <a:xfrm>
            <a:off x="9326880" y="5056632"/>
            <a:ext cx="68580" cy="38404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9" name="Shape 67"/>
          <p:cNvSpPr/>
          <p:nvPr/>
        </p:nvSpPr>
        <p:spPr>
          <a:xfrm>
            <a:off x="9418320" y="5056632"/>
            <a:ext cx="68580" cy="384048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70" name="Shape 68"/>
          <p:cNvSpPr/>
          <p:nvPr/>
        </p:nvSpPr>
        <p:spPr>
          <a:xfrm>
            <a:off x="9509760" y="5056632"/>
            <a:ext cx="68580" cy="38404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71" name="Shape 69"/>
          <p:cNvSpPr/>
          <p:nvPr/>
        </p:nvSpPr>
        <p:spPr>
          <a:xfrm>
            <a:off x="9601200" y="5056632"/>
            <a:ext cx="68580" cy="38404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72" name="Text 70"/>
          <p:cNvSpPr/>
          <p:nvPr/>
        </p:nvSpPr>
        <p:spPr>
          <a:xfrm>
            <a:off x="7406640" y="5532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distinct brand identities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9710928" y="4846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9985248" y="4672584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104120" y="4672584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222992" y="4672584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341864" y="4672584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60736" y="4672584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79608" y="4672584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98480" y="4672584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817352" y="4672584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936224" y="4672584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055096" y="4672584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985248" y="5074920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104120" y="5074920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222992" y="5074920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341864" y="5074920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460736" y="5074920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579608" y="5074920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698480" y="5074920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17352" y="5074920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936224" y="5074920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055096" y="5074920"/>
            <a:ext cx="91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63665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985248" y="5532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markets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6720840" y="5943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1,000 brand-market combinations before formats and variants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863840" y="6473952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BY JOE MICALLEF FOR ADOBE/CONEXESS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Six-Month Transformation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382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From Successful Pilot to Scalable Global Operations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865376" cy="54864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5" name="Text 3"/>
          <p:cNvSpPr/>
          <p:nvPr/>
        </p:nvSpPr>
        <p:spPr>
          <a:xfrm>
            <a:off x="2240280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" y="15636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2648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1. Discover and Standardize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2648" y="2404872"/>
            <a:ext cx="166420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existing brand assets and workflows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the metadata schema and naming conventions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style guides, design systems, SKUs, templates, and sample ads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 measurable pilot and business-success criteria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68296" y="1417320"/>
            <a:ext cx="1865376" cy="3977640"/>
          </a:xfrm>
          <a:prstGeom prst="rect">
            <a:avLst/>
          </a:prstGeom>
          <a:solidFill>
            <a:srgbClr val="F4F6F2"/>
          </a:solidFill>
          <a:ln/>
        </p:spPr>
      </p:sp>
      <p:sp>
        <p:nvSpPr>
          <p:cNvPr id="10" name="Shape 8"/>
          <p:cNvSpPr/>
          <p:nvPr/>
        </p:nvSpPr>
        <p:spPr>
          <a:xfrm>
            <a:off x="2368296" y="1417320"/>
            <a:ext cx="1865376" cy="54864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11" name="Text 9"/>
          <p:cNvSpPr/>
          <p:nvPr/>
        </p:nvSpPr>
        <p:spPr>
          <a:xfrm>
            <a:off x="4105656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78024" y="15636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78024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2. Build the Data Foundation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78024" y="2404872"/>
            <a:ext cx="166420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 approved assets within the DAM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product and SKU data from the PIM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reusable JSON brand-and-market profiles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permissions, governance rules, and approval requirements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33672" y="1417320"/>
            <a:ext cx="1865376" cy="54864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16" name="Text 14"/>
          <p:cNvSpPr/>
          <p:nvPr/>
        </p:nvSpPr>
        <p:spPr>
          <a:xfrm>
            <a:off x="5971032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00" y="15636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43400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3. Develop the MVP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43400" y="2404872"/>
            <a:ext cx="166420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DAM-to-ad-generation pipeline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 a role-based user interface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new assets using approved brand components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automated localization and specification checks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outputs into human review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99048" y="1417320"/>
            <a:ext cx="1865376" cy="3977640"/>
          </a:xfrm>
          <a:prstGeom prst="rect">
            <a:avLst/>
          </a:prstGeom>
          <a:solidFill>
            <a:srgbClr val="F4F6F2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9048" y="1417320"/>
            <a:ext cx="1865376" cy="54864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22" name="Text 20"/>
          <p:cNvSpPr/>
          <p:nvPr/>
        </p:nvSpPr>
        <p:spPr>
          <a:xfrm>
            <a:off x="7836408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08776" y="15636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08776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4. Test and Validate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08776" y="2404872"/>
            <a:ext cx="166420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creative, market, IT, and operations stakeholders together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Conduct integration, brand-quality, and localization testing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first-round QA and error analysis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 workflows based on stakeholder feedback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64424" y="1417320"/>
            <a:ext cx="1865376" cy="3977640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27" name="Shape 25"/>
          <p:cNvSpPr/>
          <p:nvPr/>
        </p:nvSpPr>
        <p:spPr>
          <a:xfrm>
            <a:off x="8074152" y="1216152"/>
            <a:ext cx="566928" cy="182880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28" name="Text 26"/>
          <p:cNvSpPr/>
          <p:nvPr/>
        </p:nvSpPr>
        <p:spPr>
          <a:xfrm>
            <a:off x="8074152" y="120243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964424" y="1417320"/>
            <a:ext cx="1865376" cy="54864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30" name="Text 28"/>
          <p:cNvSpPr/>
          <p:nvPr/>
        </p:nvSpPr>
        <p:spPr>
          <a:xfrm>
            <a:off x="9701784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74152" y="15636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74152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5. Launch a Controlled Wave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74152" y="2404872"/>
            <a:ext cx="166420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 out to three representative brands in two markets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in real campaign conditions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local teams and establish support resources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adoption, quality, cycle time, and first-pass approval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829800" y="1417320"/>
            <a:ext cx="1865376" cy="3977640"/>
          </a:xfrm>
          <a:prstGeom prst="rect">
            <a:avLst/>
          </a:prstGeom>
          <a:solidFill>
            <a:srgbClr val="F4F6F2"/>
          </a:solidFill>
          <a:ln/>
        </p:spPr>
      </p:sp>
      <p:sp>
        <p:nvSpPr>
          <p:cNvPr id="35" name="Shape 33"/>
          <p:cNvSpPr/>
          <p:nvPr/>
        </p:nvSpPr>
        <p:spPr>
          <a:xfrm>
            <a:off x="9829800" y="1417320"/>
            <a:ext cx="1865376" cy="54864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36" name="Text 34"/>
          <p:cNvSpPr/>
          <p:nvPr/>
        </p:nvSpPr>
        <p:spPr>
          <a:xfrm>
            <a:off x="9939528" y="15636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939528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6. Handoff and Scale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939528" y="2404872"/>
            <a:ext cx="166420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system ownership to internal stakeholders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operational, governance, and technical roles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 documentation, training, and support procedures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 ROI reporting and continuous improvement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the next group of brands and markets for rollout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5650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943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Automation discovery embedded at every stage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0" y="5696712"/>
            <a:ext cx="7086600" cy="201168"/>
          </a:xfrm>
          <a:prstGeom prst="rect">
            <a:avLst/>
          </a:prstGeom>
          <a:solidFill>
            <a:srgbClr val="EAF1EC"/>
          </a:solidFill>
          <a:ln w="9525">
            <a:solidFill>
              <a:srgbClr val="2F59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5692140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 — MONTH 6 · CONTINUOUS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" y="6035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F5943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Stakeholder alignment, change management &amp; training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0" y="6080760"/>
            <a:ext cx="7086600" cy="201168"/>
          </a:xfrm>
          <a:prstGeom prst="rect">
            <a:avLst/>
          </a:prstGeom>
          <a:solidFill>
            <a:srgbClr val="EAF1EC"/>
          </a:solidFill>
          <a:ln w="9525">
            <a:solidFill>
              <a:srgbClr val="2F59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6076188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 — MONTH 6 · CONTINUOUS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863840" y="6473952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BY JOE MICALLEF FOR ADOBE/CONEXESS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Co-Innovation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8869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382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Automated Localization &amp; Spec Compliance, Connected to the Legacy DAM — Step by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74320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325880"/>
            <a:ext cx="310896" cy="310896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54480" y="1380744"/>
            <a:ext cx="16002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F59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3761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CONTENT OPS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49224" y="173736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Ingest the Campaign Brief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10312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JSON brief defines brand, markets, formats, audiences, and message — the contract for everything downstream.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6704" y="1481328"/>
            <a:ext cx="274320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325880"/>
            <a:ext cx="310896" cy="310896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98264" y="1380744"/>
            <a:ext cx="16002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F59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98264" y="13761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IT / ENGINEERING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493008" y="173736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Sync the Legacy DAM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93008" y="210312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Read-only pull of approved assets, tagged by role and SHA-256 fingerprinted. The DAM stays the system of record.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0488" y="1481328"/>
            <a:ext cx="274320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8504" y="1325880"/>
            <a:ext cx="310896" cy="310896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20" name="Text 18"/>
          <p:cNvSpPr/>
          <p:nvPr/>
        </p:nvSpPr>
        <p:spPr>
          <a:xfrm>
            <a:off x="6318504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42048" y="1380744"/>
            <a:ext cx="16002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F59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13761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BRAND STANDARDS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336792" y="173736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Resolve Missing Assets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36792" y="210312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Gaps are generated with Firefly Services from approved components — provenance flag and human-review marker 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34272" y="1481328"/>
            <a:ext cx="274320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62288" y="1325880"/>
            <a:ext cx="310896" cy="310896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27" name="Text 25"/>
          <p:cNvSpPr/>
          <p:nvPr/>
        </p:nvSpPr>
        <p:spPr>
          <a:xfrm>
            <a:off x="9162288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85832" y="1380744"/>
            <a:ext cx="16002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F59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85832" y="13761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CREATIVE TEAMS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9180576" y="173736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Assemble Variants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80576" y="210312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components composed into every required format — 1:1, 9:16, 16:9 — per brand and SKU, from reusable profiles.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3904488"/>
            <a:ext cx="2743200" cy="1965960"/>
          </a:xfrm>
          <a:prstGeom prst="rect">
            <a:avLst/>
          </a:prstGeom>
          <a:solidFill>
            <a:srgbClr val="F4F6F2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" y="3749040"/>
            <a:ext cx="310896" cy="310896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554480" y="3803904"/>
            <a:ext cx="16002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F59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37993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MARKET TEAMS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49224" y="416052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Localize per Market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9224" y="452628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Transcreation, copy-length reflow, RTL mirroring, vertical setting, and market-correct legal footers — rules as data.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46704" y="3904488"/>
            <a:ext cx="2743200" cy="1965960"/>
          </a:xfrm>
          <a:prstGeom prst="rect">
            <a:avLst/>
          </a:prstGeom>
          <a:solidFill>
            <a:srgbClr val="F4F6F2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3749040"/>
            <a:ext cx="310896" cy="310896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398264" y="3803904"/>
            <a:ext cx="16002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F59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98264" y="37993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BRAND STANDARDS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493008" y="416052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Scrub for Spec Compliance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93008" y="452628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brand book compiled into blocking rules: clear space, color tokens, type licensing, copy limits. Auto-pass or auto-fix.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90488" y="3904488"/>
            <a:ext cx="2743200" cy="1965960"/>
          </a:xfrm>
          <a:prstGeom prst="rect">
            <a:avLst/>
          </a:prstGeom>
          <a:solidFill>
            <a:srgbClr val="FBF3DF"/>
          </a:solidFill>
          <a:ln w="15875">
            <a:solidFill>
              <a:srgbClr val="A8791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18504" y="3749040"/>
            <a:ext cx="310896" cy="310896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48" name="Text 46"/>
          <p:cNvSpPr/>
          <p:nvPr/>
        </p:nvSpPr>
        <p:spPr>
          <a:xfrm>
            <a:off x="6318504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242048" y="3803904"/>
            <a:ext cx="16002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A8791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42048" y="37993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A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336792" y="416052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Route Human Review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336792" y="452628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flagged queues to Brand Standards reviewers — automation with escape hatches, not automation instead of people.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034272" y="3904488"/>
            <a:ext cx="2743200" cy="1965960"/>
          </a:xfrm>
          <a:prstGeom prst="rect">
            <a:avLst/>
          </a:prstGeom>
          <a:solidFill>
            <a:srgbClr val="F4F6F2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62288" y="3749040"/>
            <a:ext cx="310896" cy="310896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55" name="Text 53"/>
          <p:cNvSpPr/>
          <p:nvPr/>
        </p:nvSpPr>
        <p:spPr>
          <a:xfrm>
            <a:off x="9162288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8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0085832" y="3803904"/>
            <a:ext cx="16002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2F594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85832" y="37993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IT + LEADERSHIP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9180576" y="416052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Write Back &amp; Report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9180576" y="452628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variants return to the DAM's taxonomy with full lineage. The audit log feeds adoption, cycle-time, and ROI reporting.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02920" y="6190488"/>
            <a:ext cx="146304" cy="146304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61" name="Text 59"/>
          <p:cNvSpPr/>
          <p:nvPr/>
        </p:nvSpPr>
        <p:spPr>
          <a:xfrm>
            <a:off x="713232" y="6163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STEP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286000" y="6190488"/>
            <a:ext cx="146304" cy="146304"/>
          </a:xfrm>
          <a:prstGeom prst="rect">
            <a:avLst/>
          </a:prstGeom>
          <a:solidFill>
            <a:srgbClr val="FBF3DF"/>
          </a:solidFill>
          <a:ln w="12700">
            <a:solidFill>
              <a:srgbClr val="A8791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96312" y="6163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GATE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669280" y="6071616"/>
            <a:ext cx="6016752" cy="402336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65" name="Text 63"/>
          <p:cNvSpPr/>
          <p:nvPr/>
        </p:nvSpPr>
        <p:spPr>
          <a:xfrm>
            <a:off x="5669280" y="6071616"/>
            <a:ext cx="6016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PROTOTYPE  ·  brand-scalability-system.netlify.app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863840" y="6473952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BY JOE MICALLEF FOR ADOBE/CONEXESS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Value &amp; ROI Proposal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8869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382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Measuring an Enterprise-Wide AI Transformation — Board-Level Metrics Beyond Productivity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of view: productivity is the entry ticket, not the ROI story. The pilot's 60% brief-to-post reduction proves the tooling works — board-level return is measured in revenue velocity, risk avoided, unit economics, and the organization's capacity to run it without us.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9385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PROVEN IN PILOT: 60% BRIEF-TO-POST REDUCTION · PRODUCTIVITY IS TABLE STAKES — THE FOUR PILLARS BELOW ARE THE BOARD STORY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2761488" cy="3063240"/>
          </a:xfrm>
          <a:prstGeom prst="rect">
            <a:avLst/>
          </a:prstGeom>
          <a:solidFill>
            <a:srgbClr val="F4F6F2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77440"/>
            <a:ext cx="2761488" cy="54864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" y="2542032"/>
            <a:ext cx="292608" cy="292608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" y="290779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Revenue Velocity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" y="3255264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F59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board asks: "Are we faster to market?"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" y="3749040"/>
            <a:ext cx="2523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cycle time, brief to live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to enter a new market or launch a brand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In-market days gained per campaign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attributed to earlier launches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46704" y="2377440"/>
            <a:ext cx="2761488" cy="3063240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4" name="Shape 12"/>
          <p:cNvSpPr/>
          <p:nvPr/>
        </p:nvSpPr>
        <p:spPr>
          <a:xfrm>
            <a:off x="3346704" y="2377440"/>
            <a:ext cx="2761488" cy="54864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2542032"/>
            <a:ext cx="292608" cy="292608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90779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Brand Integrity &amp;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255264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F59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board asks: "Are we protected as we scale?"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749040"/>
            <a:ext cx="2523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First-pass compliance rate per market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and legal violations shipped (target: zero)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Percent of assets with full provenance lineage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readiness: time to trace any variant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90488" y="2377440"/>
            <a:ext cx="2761488" cy="3063240"/>
          </a:xfrm>
          <a:prstGeom prst="rect">
            <a:avLst/>
          </a:prstGeom>
          <a:solidFill>
            <a:srgbClr val="F4F6F2"/>
          </a:solidFill>
          <a:ln/>
        </p:spPr>
      </p:sp>
      <p:sp>
        <p:nvSpPr>
          <p:cNvPr id="21" name="Shape 19"/>
          <p:cNvSpPr/>
          <p:nvPr/>
        </p:nvSpPr>
        <p:spPr>
          <a:xfrm>
            <a:off x="6190488" y="2377440"/>
            <a:ext cx="2761488" cy="54864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22" name="Shape 20"/>
          <p:cNvSpPr/>
          <p:nvPr/>
        </p:nvSpPr>
        <p:spPr>
          <a:xfrm>
            <a:off x="6318504" y="2542032"/>
            <a:ext cx="292608" cy="292608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23" name="Text 21"/>
          <p:cNvSpPr/>
          <p:nvPr/>
        </p:nvSpPr>
        <p:spPr>
          <a:xfrm>
            <a:off x="6318504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18504" y="290779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Scale Economics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18504" y="3255264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F59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board asks: "What does the next brand cost?"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18504" y="3749040"/>
            <a:ext cx="2523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per localized, approved variant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Marginal cost of adding a brand or market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capacity per creative team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reuse rate from the DAM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34272" y="2377440"/>
            <a:ext cx="2761488" cy="3063240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28" name="Shape 26"/>
          <p:cNvSpPr/>
          <p:nvPr/>
        </p:nvSpPr>
        <p:spPr>
          <a:xfrm>
            <a:off x="9034272" y="2377440"/>
            <a:ext cx="2761488" cy="54864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29" name="Shape 27"/>
          <p:cNvSpPr/>
          <p:nvPr/>
        </p:nvSpPr>
        <p:spPr>
          <a:xfrm>
            <a:off x="9162288" y="2542032"/>
            <a:ext cx="292608" cy="292608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30" name="Text 28"/>
          <p:cNvSpPr/>
          <p:nvPr/>
        </p:nvSpPr>
        <p:spPr>
          <a:xfrm>
            <a:off x="9162288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62288" y="290779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Adoption &amp; Capability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62288" y="3255264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F59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board asks: "Does the organization own it?"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62288" y="3749040"/>
            <a:ext cx="2523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brands and markets on the platform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First-pass approval rate by reviewers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Percent of teams self-serving after handoff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champions per market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669280"/>
            <a:ext cx="11183112" cy="713232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76072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FB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ROI · REPORTED QUARTERLY, PER WAVE · COMPOUNDING AS EACH WAVE ONBOARDS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77240" y="598017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ROI = ( Revenue velocity + Risk avoided + Scale economics ) ÷ ( Platform + Change-management investment 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863840" y="6473952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BY JOE MICALLEF FOR ADOBE/CONEXESS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 GREEN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B0B0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Each Concern Becomes a Design Commitment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382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Centralize the infrastructure. Federate creative control.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1183112" cy="548640"/>
          </a:xfrm>
          <a:prstGeom prst="rect">
            <a:avLst/>
          </a:prstGeom>
          <a:solidFill>
            <a:srgbClr val="F4F6F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920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 every run to margin, market coverage, growth, quality, and risk — not just speed.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11183112" cy="548640"/>
          </a:xfrm>
          <a:prstGeom prst="rect">
            <a:avLst/>
          </a:prstGeom>
          <a:solidFill>
            <a:srgbClr val="F4F6F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OPS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560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Standardize metadata, rules, approvals, and interfaces before scaling creative volume.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200400"/>
            <a:ext cx="11183112" cy="548640"/>
          </a:xfrm>
          <a:prstGeom prst="rect">
            <a:avLst/>
          </a:prstGeom>
          <a:solidFill>
            <a:srgbClr val="F4F6F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+ BRAND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200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logos, products, and core design intent; automate only approved adaptive zones.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11183112" cy="548640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MARKET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840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local teams owners of locale packs, cultural rules, transcreation, and final approval.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480560"/>
            <a:ext cx="11183112" cy="548640"/>
          </a:xfrm>
          <a:prstGeom prst="rect">
            <a:avLst/>
          </a:prstGeom>
          <a:solidFill>
            <a:srgbClr val="F4F6F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80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5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/ ENGINEERING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4480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thin adapters, configuration over custom code, observable jobs, tests, and full handoff.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257800"/>
            <a:ext cx="11183112" cy="50292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25780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Decision: approve a six-month Wave 1 with evidence-based go / no-go gates for Wave 2.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59436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36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for taking the time to read this case study. For questions and concerns please contact Joe Micallef at 310-985-1517.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863840" y="6473952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63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BY JOE MICALLEF FOR ADOBE/CONEXESS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2026-08-19T17:36:14Z</dcterms:created>
  <dcterms:modified xsi:type="dcterms:W3CDTF">2026-08-19T17:36:14Z</dcterms:modified>
</cp:coreProperties>
</file>